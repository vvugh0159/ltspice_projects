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7" autoAdjust="0"/>
    <p:restoredTop sz="94660"/>
  </p:normalViewPr>
  <p:slideViewPr>
    <p:cSldViewPr snapToGrid="0">
      <p:cViewPr varScale="1">
        <p:scale>
          <a:sx n="158" d="100"/>
          <a:sy n="158" d="100"/>
        </p:scale>
        <p:origin x="18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BEC76-0927-1CC5-7759-C7D533A2B5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12EF58-391A-A4ED-2C5D-DF8B534229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F3FFC-55AF-A725-FB4C-3F48A8F66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FE128-68CC-4E47-897D-2B4F7AA4D92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53997-61E1-7CF4-DB09-D7D6B9FF6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69737-EA7C-F9DB-42C3-66FE2CEA3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29B59-73CA-4FBF-86C7-25D16A9F7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671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1C362-2829-2DA6-A836-B7AFBBD34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1639B-FB61-FF9B-D31C-3EFEB5B67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42459-BF96-F58D-4562-54BC67B33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FE128-68CC-4E47-897D-2B4F7AA4D92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6B739-AAD1-0BE2-582A-E5C00FA7B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C5947-9CAF-B48F-A9D1-FE42905AA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29B59-73CA-4FBF-86C7-25D16A9F7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399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9C421-6115-2A9B-6507-837FDF8FE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A42255-FD24-7589-115A-89A11954C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C96D4-E200-FE4F-7CD8-4B9D36475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FE128-68CC-4E47-897D-2B4F7AA4D92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13891-214B-4ECC-E9E5-56C037BC9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61C0C-89AC-2A69-6053-40586FC82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29B59-73CA-4FBF-86C7-25D16A9F7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054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4024C-CF94-9CA6-2AEF-9E68CF282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79F0D-71AC-FABC-6D1F-06280D1278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9A9432-88A7-C571-44EE-7355E21A13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8625CC-FEA8-BA30-CBD1-A71173293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FE128-68CC-4E47-897D-2B4F7AA4D92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CAD798-A436-025B-9984-3814723C5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F6A72-F17F-B3C7-DC19-00224146E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29B59-73CA-4FBF-86C7-25D16A9F7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079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79C23-01C6-9294-4CB8-09013408B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F1F72D-6E1F-C4D7-4933-69F7E4A58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F1CE17-3DD8-21E6-938D-FA0B982D3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A19A93-FE91-FF89-1D74-8D9838BCC3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A580A9-D881-0F43-DB7B-7CF93F2731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952E50-9ED1-F93E-76EF-CBEA010FF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FE128-68CC-4E47-897D-2B4F7AA4D92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0FC681-EE55-309A-7C2F-B42878A21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2C1238-C519-3BEA-976F-A8C9A73ED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29B59-73CA-4FBF-86C7-25D16A9F7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611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01F2C-D99A-4884-00D8-B414DB802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00E4BC-8370-301C-C0E6-D02B9E49F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FE128-68CC-4E47-897D-2B4F7AA4D92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7B1BBE-1640-4F35-5611-1DD687989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2AADE-4163-F30F-1378-7CE49DE5A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29B59-73CA-4FBF-86C7-25D16A9F7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234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46392D-8E4A-38CE-B764-FE78F886E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FE128-68CC-4E47-897D-2B4F7AA4D92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B67257-0990-4928-82AF-9E9BFF6EA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2AF2F-3B0E-5F11-0FE8-CC0187589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29B59-73CA-4FBF-86C7-25D16A9F7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093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F7A1D-6113-D272-9725-319CB8787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9E16E-7402-F444-6893-66621B3C2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311965-1486-641B-ED3F-39C8BC447B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C229C3-E6A7-CE29-A195-5CDD92551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FE128-68CC-4E47-897D-2B4F7AA4D92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75C4FA-6ECB-8BD3-1043-002C01BBB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32BB01-EC64-86E6-3DAD-ED4E841A3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29B59-73CA-4FBF-86C7-25D16A9F7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988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0F15C-20CB-CB0A-3ACD-EF3C18812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C5675A-B914-044F-2942-EB98A10B4D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F345B4-A11A-6980-FD41-CACC12BDAD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8BAD8D-9778-187E-85DF-E7E6D0605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FE128-68CC-4E47-897D-2B4F7AA4D92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A1DA18-9E47-417D-3DD0-83EC87EB0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1B0385-1036-ED0E-4626-30A62D9EA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29B59-73CA-4FBF-86C7-25D16A9F7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10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5A35B-5FF3-43C0-F7A3-9147A8B1D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D4794F-733B-FF92-5B79-D6BA3B5A9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676A1-1F67-D38C-6416-A0BEBC870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FE128-68CC-4E47-897D-2B4F7AA4D92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58BF9-99E9-5A90-2D44-EBBA10A6F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2E9C4-A136-BC11-46AA-7B50F255E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29B59-73CA-4FBF-86C7-25D16A9F7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800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773199-6729-9247-E861-6973EE2FB6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2F969C-695C-82DE-C1F5-A4E83C26FE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FE0FD-1481-EC6B-9B52-3124C7734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FE128-68CC-4E47-897D-2B4F7AA4D92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DAD7E-D7F1-4D8B-285F-EA3986EB2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E9EBE-2CC2-1F66-FAB2-4623FEF1D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29B59-73CA-4FBF-86C7-25D16A9F7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6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38B74C-09BF-2F5B-5492-007C1E37B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0B1C61-6FE1-B677-E116-67E2CDE21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F7336-710A-2CAE-A951-6663F0B92C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AFE128-68CC-4E47-897D-2B4F7AA4D923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27CC9-654A-EADC-46E3-F2922E4631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300D3-5F17-73BB-46DE-F3A7D672D5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729B59-73CA-4FBF-86C7-25D16A9F7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161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D684AA-F0AA-9AB0-5ED2-B80BC3D355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593" y="179561"/>
            <a:ext cx="2342275" cy="42698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F53537-DEF9-0F72-12CB-AB5CF6F79676}"/>
              </a:ext>
            </a:extLst>
          </p:cNvPr>
          <p:cNvSpPr txBox="1"/>
          <p:nvPr/>
        </p:nvSpPr>
        <p:spPr>
          <a:xfrm>
            <a:off x="3791814" y="3110271"/>
            <a:ext cx="78081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Step 2. Look up part number on those 4-terminal, black components.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Part number is CTX01-17342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Looking up datasheet shows they’re common-mode chokes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Model this as an ideal transformer, and use datasheet to enter assign inductance, equivalent turns ratio, and coupling factor of 1 (which is a K-statement in LTSPICE)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7D2659-19F0-F527-E42C-97B78566F7E0}"/>
              </a:ext>
            </a:extLst>
          </p:cNvPr>
          <p:cNvSpPr txBox="1"/>
          <p:nvPr/>
        </p:nvSpPr>
        <p:spPr>
          <a:xfrm>
            <a:off x="3668470" y="68728"/>
            <a:ext cx="6786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Objective: Reverse-engineer this unknown “black-box” filter.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284F27-55AC-A552-4D82-BFE56AE1AA8E}"/>
              </a:ext>
            </a:extLst>
          </p:cNvPr>
          <p:cNvSpPr txBox="1"/>
          <p:nvPr/>
        </p:nvSpPr>
        <p:spPr>
          <a:xfrm>
            <a:off x="3750147" y="4270777"/>
            <a:ext cx="78081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Step 3. These are capacitors. Don’t know what the values are, but start off with “educated guess”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Differential-mode and common-mode filters observed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Just a hunch. Start by guessing that differential-mode caps are between 1uF and 10uF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Start by guessing common-mode filter caps are between 0.01uF through 1uF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CDCBB4-6266-2384-0532-4C8378483E71}"/>
              </a:ext>
            </a:extLst>
          </p:cNvPr>
          <p:cNvSpPr txBox="1"/>
          <p:nvPr/>
        </p:nvSpPr>
        <p:spPr>
          <a:xfrm>
            <a:off x="3750147" y="5286645"/>
            <a:ext cx="7808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Step 4. Slowly add non-idealities, like series inductances, parallel capacitances, and resistive losses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4D2988E-8641-7A9E-FB1D-27FA7DE964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8934" y="1344721"/>
            <a:ext cx="3633431" cy="162070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8199144-E445-23AE-84A1-1369148D2E42}"/>
              </a:ext>
            </a:extLst>
          </p:cNvPr>
          <p:cNvSpPr txBox="1"/>
          <p:nvPr/>
        </p:nvSpPr>
        <p:spPr>
          <a:xfrm>
            <a:off x="3731394" y="702502"/>
            <a:ext cx="7975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Step 1. ASSUME the black box is a circuit containing the following, just based off visual inspection of components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598C8F-1EA1-2FBF-F85A-31078843F54C}"/>
              </a:ext>
            </a:extLst>
          </p:cNvPr>
          <p:cNvSpPr/>
          <p:nvPr/>
        </p:nvSpPr>
        <p:spPr>
          <a:xfrm>
            <a:off x="6908351" y="1325140"/>
            <a:ext cx="632426" cy="1083163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C0D291F-6112-26D7-2F45-95A803AC77DC}"/>
              </a:ext>
            </a:extLst>
          </p:cNvPr>
          <p:cNvSpPr/>
          <p:nvPr/>
        </p:nvSpPr>
        <p:spPr>
          <a:xfrm>
            <a:off x="8129049" y="1325138"/>
            <a:ext cx="520153" cy="1083163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DB29920-C1B0-DEB1-0622-E02CC4E5CC7E}"/>
              </a:ext>
            </a:extLst>
          </p:cNvPr>
          <p:cNvSpPr/>
          <p:nvPr/>
        </p:nvSpPr>
        <p:spPr>
          <a:xfrm>
            <a:off x="8686102" y="1325138"/>
            <a:ext cx="388955" cy="1083163"/>
          </a:xfrm>
          <a:prstGeom prst="rect">
            <a:avLst/>
          </a:prstGeom>
          <a:solidFill>
            <a:srgbClr val="92D050">
              <a:alpha val="20000"/>
            </a:srgb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615F351-22D1-F7E0-4D15-1491FD83997A}"/>
              </a:ext>
            </a:extLst>
          </p:cNvPr>
          <p:cNvSpPr/>
          <p:nvPr/>
        </p:nvSpPr>
        <p:spPr>
          <a:xfrm>
            <a:off x="6449571" y="1325139"/>
            <a:ext cx="414469" cy="1061862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39C7B3-659B-AF0B-5E56-0B56E2CB10AA}"/>
              </a:ext>
            </a:extLst>
          </p:cNvPr>
          <p:cNvSpPr txBox="1"/>
          <p:nvPr/>
        </p:nvSpPr>
        <p:spPr>
          <a:xfrm>
            <a:off x="5332861" y="1718786"/>
            <a:ext cx="12390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00B050"/>
                </a:solidFill>
              </a:rPr>
              <a:t>Common-Mode Choke</a:t>
            </a:r>
          </a:p>
          <a:p>
            <a:r>
              <a:rPr lang="en-US" sz="800" dirty="0">
                <a:solidFill>
                  <a:srgbClr val="00B050"/>
                </a:solidFill>
              </a:rPr>
              <a:t>(Fancy transformer)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0DD499F-702C-A21F-4C4E-2720E25C4A99}"/>
              </a:ext>
            </a:extLst>
          </p:cNvPr>
          <p:cNvSpPr txBox="1"/>
          <p:nvPr/>
        </p:nvSpPr>
        <p:spPr>
          <a:xfrm>
            <a:off x="9025450" y="1722303"/>
            <a:ext cx="12390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00B050"/>
                </a:solidFill>
              </a:rPr>
              <a:t>Common-Mode Choke</a:t>
            </a:r>
          </a:p>
          <a:p>
            <a:r>
              <a:rPr lang="en-US" sz="800" dirty="0">
                <a:solidFill>
                  <a:srgbClr val="00B050"/>
                </a:solidFill>
              </a:rPr>
              <a:t>(Fancy transformer)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16967F1-D9B8-A031-5570-F2644F5D8BA2}"/>
              </a:ext>
            </a:extLst>
          </p:cNvPr>
          <p:cNvSpPr txBox="1"/>
          <p:nvPr/>
        </p:nvSpPr>
        <p:spPr>
          <a:xfrm>
            <a:off x="8018831" y="2412746"/>
            <a:ext cx="1027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00B0F0"/>
                </a:solidFill>
              </a:rPr>
              <a:t>Differential-Mode  Capacitors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0911723-E9F7-2E6A-8402-2F44B98B34C8}"/>
              </a:ext>
            </a:extLst>
          </p:cNvPr>
          <p:cNvSpPr txBox="1"/>
          <p:nvPr/>
        </p:nvSpPr>
        <p:spPr>
          <a:xfrm>
            <a:off x="6724439" y="2397652"/>
            <a:ext cx="971466" cy="350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00B0F0"/>
                </a:solidFill>
              </a:rPr>
              <a:t>Differential-Mode Capacitors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A1F3AFB-B5A5-5CC6-20D9-F57FB8298EBE}"/>
              </a:ext>
            </a:extLst>
          </p:cNvPr>
          <p:cNvSpPr/>
          <p:nvPr/>
        </p:nvSpPr>
        <p:spPr>
          <a:xfrm>
            <a:off x="7654238" y="1325139"/>
            <a:ext cx="312185" cy="1061862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6ED2931-D945-0ED0-6254-B709E184ED9F}"/>
              </a:ext>
            </a:extLst>
          </p:cNvPr>
          <p:cNvSpPr txBox="1"/>
          <p:nvPr/>
        </p:nvSpPr>
        <p:spPr>
          <a:xfrm>
            <a:off x="7452312" y="973299"/>
            <a:ext cx="892502" cy="340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accent2"/>
                </a:solidFill>
              </a:rPr>
              <a:t>Common-Mode Capacitors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4EEEB50-A207-EE77-DE02-E2E9316FA373}"/>
              </a:ext>
            </a:extLst>
          </p:cNvPr>
          <p:cNvSpPr txBox="1"/>
          <p:nvPr/>
        </p:nvSpPr>
        <p:spPr>
          <a:xfrm>
            <a:off x="5788202" y="2633900"/>
            <a:ext cx="1055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CHASSIS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FD277DC-36A8-2516-139E-B30A7AE662DC}"/>
              </a:ext>
            </a:extLst>
          </p:cNvPr>
          <p:cNvSpPr txBox="1"/>
          <p:nvPr/>
        </p:nvSpPr>
        <p:spPr>
          <a:xfrm>
            <a:off x="5476566" y="1376703"/>
            <a:ext cx="5070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IN+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7151687-6234-5C01-7F0E-81606871D3A4}"/>
              </a:ext>
            </a:extLst>
          </p:cNvPr>
          <p:cNvSpPr txBox="1"/>
          <p:nvPr/>
        </p:nvSpPr>
        <p:spPr>
          <a:xfrm>
            <a:off x="5486411" y="2076921"/>
            <a:ext cx="5070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IN-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8469967-B4D9-B741-379B-234C85B61646}"/>
              </a:ext>
            </a:extLst>
          </p:cNvPr>
          <p:cNvSpPr txBox="1"/>
          <p:nvPr/>
        </p:nvSpPr>
        <p:spPr>
          <a:xfrm>
            <a:off x="9365997" y="1376703"/>
            <a:ext cx="745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OUT+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079BDAD-178F-7823-1892-C18C43DB41C8}"/>
              </a:ext>
            </a:extLst>
          </p:cNvPr>
          <p:cNvSpPr txBox="1"/>
          <p:nvPr/>
        </p:nvSpPr>
        <p:spPr>
          <a:xfrm>
            <a:off x="9375842" y="2076921"/>
            <a:ext cx="622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OUT-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CBF9EAC-3BBF-E7D7-2DD7-0A6BF6612BB9}"/>
              </a:ext>
            </a:extLst>
          </p:cNvPr>
          <p:cNvCxnSpPr>
            <a:cxnSpLocks/>
          </p:cNvCxnSpPr>
          <p:nvPr/>
        </p:nvCxnSpPr>
        <p:spPr>
          <a:xfrm flipH="1" flipV="1">
            <a:off x="2501664" y="1397672"/>
            <a:ext cx="1243136" cy="1883701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28DE44AE-0170-C9B3-1533-A4FFA4BED8F9}"/>
              </a:ext>
            </a:extLst>
          </p:cNvPr>
          <p:cNvSpPr/>
          <p:nvPr/>
        </p:nvSpPr>
        <p:spPr>
          <a:xfrm>
            <a:off x="698290" y="665872"/>
            <a:ext cx="1685756" cy="1118660"/>
          </a:xfrm>
          <a:prstGeom prst="ellipse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5F9F3E8-AAEB-C17B-0A3A-48F5DAFB5BE6}"/>
              </a:ext>
            </a:extLst>
          </p:cNvPr>
          <p:cNvSpPr/>
          <p:nvPr/>
        </p:nvSpPr>
        <p:spPr>
          <a:xfrm>
            <a:off x="257806" y="2913061"/>
            <a:ext cx="1685756" cy="1145121"/>
          </a:xfrm>
          <a:prstGeom prst="ellipse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CA5E553-8D1A-7EF0-7288-D58531F4CDF8}"/>
              </a:ext>
            </a:extLst>
          </p:cNvPr>
          <p:cNvSpPr txBox="1"/>
          <p:nvPr/>
        </p:nvSpPr>
        <p:spPr>
          <a:xfrm>
            <a:off x="3750146" y="5748516"/>
            <a:ext cx="8184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Step 5. “Fudge-factor” simulation until results roughly match datasheet. This requires a bit of practice, and knowing when your model is “good enough” just also takes practice and experience. More practice = “ you get better”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4CA0486-B0C9-5258-3480-AC06D682299E}"/>
              </a:ext>
            </a:extLst>
          </p:cNvPr>
          <p:cNvSpPr txBox="1"/>
          <p:nvPr/>
        </p:nvSpPr>
        <p:spPr>
          <a:xfrm>
            <a:off x="2909216" y="1839425"/>
            <a:ext cx="7464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STEP 2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6239DA24-F9F4-1616-5FE9-C9D025CF9996}"/>
              </a:ext>
            </a:extLst>
          </p:cNvPr>
          <p:cNvCxnSpPr>
            <a:cxnSpLocks/>
          </p:cNvCxnSpPr>
          <p:nvPr/>
        </p:nvCxnSpPr>
        <p:spPr>
          <a:xfrm flipH="1" flipV="1">
            <a:off x="2261453" y="2573133"/>
            <a:ext cx="1546440" cy="179493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9FE4E83-3A86-2E25-A63D-50CE5E6B8614}"/>
              </a:ext>
            </a:extLst>
          </p:cNvPr>
          <p:cNvCxnSpPr>
            <a:cxnSpLocks/>
          </p:cNvCxnSpPr>
          <p:nvPr/>
        </p:nvCxnSpPr>
        <p:spPr>
          <a:xfrm flipH="1">
            <a:off x="2344409" y="3281373"/>
            <a:ext cx="1405737" cy="310826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212DF835-DD8A-E481-CE76-993E4778648E}"/>
              </a:ext>
            </a:extLst>
          </p:cNvPr>
          <p:cNvSpPr/>
          <p:nvPr/>
        </p:nvSpPr>
        <p:spPr>
          <a:xfrm>
            <a:off x="404214" y="1603221"/>
            <a:ext cx="1856299" cy="1309840"/>
          </a:xfrm>
          <a:prstGeom prst="ellipse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417D28F-1E8A-D657-8EE9-1B6EDA9243F8}"/>
              </a:ext>
            </a:extLst>
          </p:cNvPr>
          <p:cNvSpPr txBox="1"/>
          <p:nvPr/>
        </p:nvSpPr>
        <p:spPr>
          <a:xfrm>
            <a:off x="2789761" y="3761987"/>
            <a:ext cx="7217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</a:rPr>
              <a:t>STEP 3</a:t>
            </a:r>
          </a:p>
        </p:txBody>
      </p:sp>
    </p:spTree>
    <p:extLst>
      <p:ext uri="{BB962C8B-B14F-4D97-AF65-F5344CB8AC3E}">
        <p14:creationId xmlns:p14="http://schemas.microsoft.com/office/powerpoint/2010/main" val="3740346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232</Words>
  <Application>Microsoft Office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Vien Vu</dc:creator>
  <cp:lastModifiedBy>Vien Vu</cp:lastModifiedBy>
  <cp:revision>1</cp:revision>
  <dcterms:created xsi:type="dcterms:W3CDTF">2026-07-07T06:51:38Z</dcterms:created>
  <dcterms:modified xsi:type="dcterms:W3CDTF">2026-07-07T07:21:03Z</dcterms:modified>
</cp:coreProperties>
</file>